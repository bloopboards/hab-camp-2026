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997700" cy="9271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5" roundtripDataSignature="AMtx7mi9PUv9WjBW/BjG4aGitmO3ETlv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6: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99750" y="4403725"/>
            <a:ext cx="5598300" cy="417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7:notes"/>
          <p:cNvSpPr/>
          <p:nvPr>
            <p:ph idx="2" type="sldImg"/>
          </p:nvPr>
        </p:nvSpPr>
        <p:spPr>
          <a:xfrm>
            <a:off x="1166500" y="695325"/>
            <a:ext cx="4665300" cy="3476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f546a8f13_0_0:notes"/>
          <p:cNvSpPr txBox="1"/>
          <p:nvPr>
            <p:ph idx="1" type="body"/>
          </p:nvPr>
        </p:nvSpPr>
        <p:spPr>
          <a:xfrm>
            <a:off x="699750" y="4403725"/>
            <a:ext cx="5598300" cy="417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g2ef546a8f13_0_0:notes"/>
          <p:cNvSpPr/>
          <p:nvPr>
            <p:ph idx="2" type="sldImg"/>
          </p:nvPr>
        </p:nvSpPr>
        <p:spPr>
          <a:xfrm>
            <a:off x="1166500" y="695325"/>
            <a:ext cx="4665300" cy="3476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99750" y="4403725"/>
            <a:ext cx="5598150" cy="41719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8:notes"/>
          <p:cNvSpPr/>
          <p:nvPr>
            <p:ph idx="2" type="sldImg"/>
          </p:nvPr>
        </p:nvSpPr>
        <p:spPr>
          <a:xfrm>
            <a:off x="1166500" y="695325"/>
            <a:ext cx="4665350" cy="3476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 name="Shape 17"/>
        <p:cNvGrpSpPr/>
        <p:nvPr/>
      </p:nvGrpSpPr>
      <p:grpSpPr>
        <a:xfrm>
          <a:off x="0" y="0"/>
          <a:ext cx="0" cy="0"/>
          <a:chOff x="0" y="0"/>
          <a:chExt cx="0" cy="0"/>
        </a:xfrm>
      </p:grpSpPr>
      <p:sp>
        <p:nvSpPr>
          <p:cNvPr id="18" name="Google Shape;18;p1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1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 name="Shape 23"/>
        <p:cNvGrpSpPr/>
        <p:nvPr/>
      </p:nvGrpSpPr>
      <p:grpSpPr>
        <a:xfrm>
          <a:off x="0" y="0"/>
          <a:ext cx="0" cy="0"/>
          <a:chOff x="0" y="0"/>
          <a:chExt cx="0" cy="0"/>
        </a:xfrm>
      </p:grpSpPr>
      <p:sp>
        <p:nvSpPr>
          <p:cNvPr id="24" name="Google Shape;24;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 name="Google Shape;25;p12"/>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 name="Google Shape;2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 name="Shape 29"/>
        <p:cNvGrpSpPr/>
        <p:nvPr/>
      </p:nvGrpSpPr>
      <p:grpSpPr>
        <a:xfrm>
          <a:off x="0" y="0"/>
          <a:ext cx="0" cy="0"/>
          <a:chOff x="0" y="0"/>
          <a:chExt cx="0" cy="0"/>
        </a:xfrm>
      </p:grpSpPr>
      <p:sp>
        <p:nvSpPr>
          <p:cNvPr id="30" name="Google Shape;30;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13"/>
          <p:cNvSpPr/>
          <p:nvPr>
            <p:ph idx="2" type="pic"/>
          </p:nvPr>
        </p:nvSpPr>
        <p:spPr>
          <a:xfrm>
            <a:off x="1792288" y="612775"/>
            <a:ext cx="5486400" cy="4114800"/>
          </a:xfrm>
          <a:prstGeom prst="rect">
            <a:avLst/>
          </a:prstGeom>
          <a:noFill/>
          <a:ln>
            <a:noFill/>
          </a:ln>
        </p:spPr>
      </p:sp>
      <p:sp>
        <p:nvSpPr>
          <p:cNvPr id="32" name="Google Shape;32;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3" name="Google Shape;3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1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1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9" name="Google Shape;39;p1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0" name="Google Shape;4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 name="Google Shape;4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 name="Google Shape;54;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5" name="Google Shape;55;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6" name="Google Shape;56;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7" name="Google Shape;57;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4" name="Google Shape;64;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 name="Google Shape;7;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304800"/>
            <a:ext cx="7772400" cy="38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Team Name</a:t>
            </a:r>
            <a:br>
              <a:rPr b="0" i="0" lang="en-US" sz="4400" u="none">
                <a:solidFill>
                  <a:schemeClr val="dk1"/>
                </a:solidFill>
                <a:latin typeface="Calibri"/>
                <a:ea typeface="Calibri"/>
                <a:cs typeface="Calibri"/>
                <a:sym typeface="Calibri"/>
              </a:rPr>
            </a:br>
            <a:r>
              <a:rPr b="0" i="0" lang="en-US" sz="4400" u="none">
                <a:solidFill>
                  <a:schemeClr val="dk1"/>
                </a:solidFill>
                <a:latin typeface="Calibri"/>
                <a:ea typeface="Calibri"/>
                <a:cs typeface="Calibri"/>
                <a:sym typeface="Calibri"/>
              </a:rPr>
              <a:t>Flight Readiness Review</a:t>
            </a:r>
            <a:br>
              <a:rPr b="0" i="0" lang="en-US" sz="4400" u="none">
                <a:solidFill>
                  <a:schemeClr val="dk1"/>
                </a:solidFill>
                <a:latin typeface="Calibri"/>
                <a:ea typeface="Calibri"/>
                <a:cs typeface="Calibri"/>
                <a:sym typeface="Calibri"/>
              </a:rPr>
            </a:br>
            <a:r>
              <a:rPr b="0" i="1" lang="en-US" sz="1800" u="none">
                <a:solidFill>
                  <a:schemeClr val="dk1"/>
                </a:solidFill>
                <a:latin typeface="Calibri"/>
                <a:ea typeface="Calibri"/>
                <a:cs typeface="Calibri"/>
                <a:sym typeface="Calibri"/>
              </a:rPr>
              <a:t>(this is a bare-bones template – make it fancier if you wish,</a:t>
            </a:r>
            <a:br>
              <a:rPr b="0" i="1" lang="en-US" sz="1800" u="none">
                <a:solidFill>
                  <a:schemeClr val="dk1"/>
                </a:solidFill>
                <a:latin typeface="Calibri"/>
                <a:ea typeface="Calibri"/>
                <a:cs typeface="Calibri"/>
                <a:sym typeface="Calibri"/>
              </a:rPr>
            </a:br>
            <a:r>
              <a:rPr b="0" i="1" lang="en-US" sz="1800" u="none">
                <a:solidFill>
                  <a:schemeClr val="dk1"/>
                </a:solidFill>
                <a:latin typeface="Calibri"/>
                <a:ea typeface="Calibri"/>
                <a:cs typeface="Calibri"/>
                <a:sym typeface="Calibri"/>
              </a:rPr>
              <a:t>but be sure to address at least the items listed here)</a:t>
            </a:r>
            <a:br>
              <a:rPr b="0" i="1" lang="en-US" sz="1800" u="none">
                <a:solidFill>
                  <a:schemeClr val="dk1"/>
                </a:solidFill>
                <a:latin typeface="Calibri"/>
                <a:ea typeface="Calibri"/>
                <a:cs typeface="Calibri"/>
                <a:sym typeface="Calibri"/>
              </a:rPr>
            </a:br>
            <a:r>
              <a:rPr b="0" i="1" lang="en-US" sz="1800" u="none">
                <a:solidFill>
                  <a:schemeClr val="dk1"/>
                </a:solidFill>
                <a:latin typeface="Calibri"/>
                <a:ea typeface="Calibri"/>
                <a:cs typeface="Calibri"/>
                <a:sym typeface="Calibri"/>
              </a:rPr>
              <a:t>(remember this is a 8 to 10-minute oral presentation – don’t go long,</a:t>
            </a:r>
            <a:br>
              <a:rPr b="0" i="1" lang="en-US" sz="1800" u="none">
                <a:solidFill>
                  <a:schemeClr val="dk1"/>
                </a:solidFill>
                <a:latin typeface="Calibri"/>
                <a:ea typeface="Calibri"/>
                <a:cs typeface="Calibri"/>
                <a:sym typeface="Calibri"/>
              </a:rPr>
            </a:br>
            <a:r>
              <a:rPr b="0" i="1" lang="en-US" sz="1800" u="none">
                <a:solidFill>
                  <a:schemeClr val="dk1"/>
                </a:solidFill>
                <a:latin typeface="Calibri"/>
                <a:ea typeface="Calibri"/>
                <a:cs typeface="Calibri"/>
                <a:sym typeface="Calibri"/>
              </a:rPr>
              <a:t>but do use the time effectively – practice your timing aloud)</a:t>
            </a:r>
            <a:br>
              <a:rPr b="0" i="1" lang="en-US" sz="1800" u="none">
                <a:solidFill>
                  <a:schemeClr val="dk1"/>
                </a:solidFill>
                <a:latin typeface="Calibri"/>
                <a:ea typeface="Calibri"/>
                <a:cs typeface="Calibri"/>
                <a:sym typeface="Calibri"/>
              </a:rPr>
            </a:br>
            <a:endParaRPr/>
          </a:p>
        </p:txBody>
      </p:sp>
      <p:sp>
        <p:nvSpPr>
          <p:cNvPr id="85" name="Google Shape;85;p1"/>
          <p:cNvSpPr txBox="1"/>
          <p:nvPr>
            <p:ph idx="1" type="subTitle"/>
          </p:nvPr>
        </p:nvSpPr>
        <p:spPr>
          <a:xfrm>
            <a:off x="1371600" y="4648200"/>
            <a:ext cx="6400800" cy="1143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98989"/>
              </a:buClr>
              <a:buSzPts val="3200"/>
              <a:buNone/>
            </a:pPr>
            <a:r>
              <a:rPr b="0" i="0" lang="en-US" sz="3200" u="none">
                <a:solidFill>
                  <a:srgbClr val="898989"/>
                </a:solidFill>
                <a:latin typeface="Calibri"/>
                <a:ea typeface="Calibri"/>
                <a:cs typeface="Calibri"/>
                <a:sym typeface="Calibri"/>
              </a:rPr>
              <a:t>Team Members</a:t>
            </a:r>
            <a:endParaRPr/>
          </a:p>
          <a:p>
            <a:pPr indent="0" lvl="0" marL="0" rtl="0" algn="ctr">
              <a:lnSpc>
                <a:spcPct val="100000"/>
              </a:lnSpc>
              <a:spcBef>
                <a:spcPts val="640"/>
              </a:spcBef>
              <a:spcAft>
                <a:spcPts val="0"/>
              </a:spcAft>
              <a:buClr>
                <a:srgbClr val="898989"/>
              </a:buClr>
              <a:buSzPts val="3200"/>
              <a:buNone/>
            </a:pPr>
            <a:r>
              <a:rPr b="0" i="0" lang="en-US" sz="3200" u="none">
                <a:solidFill>
                  <a:srgbClr val="898989"/>
                </a:solidFill>
                <a:latin typeface="Calibri"/>
                <a:ea typeface="Calibri"/>
                <a:cs typeface="Calibri"/>
                <a:sym typeface="Calibri"/>
              </a:rPr>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ctrTitle"/>
          </p:nvPr>
        </p:nvSpPr>
        <p:spPr>
          <a:xfrm>
            <a:off x="685800" y="228600"/>
            <a:ext cx="7772400" cy="6889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Team Name, Patch, and Motto</a:t>
            </a:r>
            <a:endParaRPr/>
          </a:p>
        </p:txBody>
      </p:sp>
      <p:sp>
        <p:nvSpPr>
          <p:cNvPr id="91" name="Google Shape;91;p2"/>
          <p:cNvSpPr txBox="1"/>
          <p:nvPr>
            <p:ph idx="1" type="subTitle"/>
          </p:nvPr>
        </p:nvSpPr>
        <p:spPr>
          <a:xfrm>
            <a:off x="381000" y="1066800"/>
            <a:ext cx="8382000" cy="2895600"/>
          </a:xfrm>
          <a:prstGeom prst="rect">
            <a:avLst/>
          </a:prstGeom>
          <a:noFill/>
          <a:ln>
            <a:noFill/>
          </a:ln>
        </p:spPr>
        <p:txBody>
          <a:bodyPr anchorCtr="0" anchor="t" bIns="45700" lIns="91425" spcFirstLastPara="1" rIns="91425" wrap="square" tIns="45700">
            <a:normAutofit/>
          </a:bodyPr>
          <a:lstStyle/>
          <a:p>
            <a:pPr indent="-203200" lvl="0" marL="0" rtl="0" algn="l">
              <a:lnSpc>
                <a:spcPct val="100000"/>
              </a:lnSpc>
              <a:spcBef>
                <a:spcPts val="0"/>
              </a:spcBef>
              <a:spcAft>
                <a:spcPts val="0"/>
              </a:spcAft>
              <a:buClr>
                <a:srgbClr val="898989"/>
              </a:buClr>
              <a:buSzPts val="3200"/>
              <a:buFont typeface="Arial"/>
              <a:buChar char="•"/>
            </a:pPr>
            <a:r>
              <a:rPr b="0" i="0" lang="en-US" sz="3200" u="none">
                <a:solidFill>
                  <a:srgbClr val="898989"/>
                </a:solidFill>
                <a:latin typeface="Calibri"/>
                <a:ea typeface="Calibri"/>
                <a:cs typeface="Calibri"/>
                <a:sym typeface="Calibri"/>
              </a:rPr>
              <a:t>Have some fun with it, but keep it appropriate.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ctrTitle"/>
          </p:nvPr>
        </p:nvSpPr>
        <p:spPr>
          <a:xfrm>
            <a:off x="685800" y="228600"/>
            <a:ext cx="7772400" cy="6889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Mission Overview</a:t>
            </a:r>
            <a:endParaRPr/>
          </a:p>
        </p:txBody>
      </p:sp>
      <p:sp>
        <p:nvSpPr>
          <p:cNvPr id="97" name="Google Shape;97;p3"/>
          <p:cNvSpPr txBox="1"/>
          <p:nvPr>
            <p:ph idx="1" type="subTitle"/>
          </p:nvPr>
        </p:nvSpPr>
        <p:spPr>
          <a:xfrm>
            <a:off x="381000" y="1066800"/>
            <a:ext cx="8382000" cy="2895600"/>
          </a:xfrm>
          <a:prstGeom prst="rect">
            <a:avLst/>
          </a:prstGeom>
          <a:noFill/>
          <a:ln>
            <a:noFill/>
          </a:ln>
        </p:spPr>
        <p:txBody>
          <a:bodyPr anchorCtr="0" anchor="t" bIns="45700" lIns="91425" spcFirstLastPara="1" rIns="91425" wrap="square" tIns="45700">
            <a:normAutofit/>
          </a:bodyPr>
          <a:lstStyle/>
          <a:p>
            <a:pPr indent="-203200" lvl="0" marL="0" rtl="0" algn="l">
              <a:lnSpc>
                <a:spcPct val="100000"/>
              </a:lnSpc>
              <a:spcBef>
                <a:spcPts val="0"/>
              </a:spcBef>
              <a:spcAft>
                <a:spcPts val="0"/>
              </a:spcAft>
              <a:buClr>
                <a:srgbClr val="898989"/>
              </a:buClr>
              <a:buSzPts val="3200"/>
              <a:buFont typeface="Arial"/>
              <a:buChar char="•"/>
            </a:pPr>
            <a:r>
              <a:rPr b="0" i="0" lang="en-US" sz="3200" u="none">
                <a:solidFill>
                  <a:srgbClr val="898989"/>
                </a:solidFill>
                <a:latin typeface="Calibri"/>
                <a:ea typeface="Calibri"/>
                <a:cs typeface="Calibri"/>
                <a:sym typeface="Calibri"/>
              </a:rPr>
              <a:t>  What are your (multiple) objectives?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ctrTitle"/>
          </p:nvPr>
        </p:nvSpPr>
        <p:spPr>
          <a:xfrm>
            <a:off x="685800" y="304800"/>
            <a:ext cx="7848600" cy="1905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Design Overview </a:t>
            </a:r>
            <a:r>
              <a:rPr b="0" i="0" lang="en-US" sz="3200" u="none">
                <a:solidFill>
                  <a:schemeClr val="dk1"/>
                </a:solidFill>
                <a:latin typeface="Calibri"/>
                <a:ea typeface="Calibri"/>
                <a:cs typeface="Calibri"/>
                <a:sym typeface="Calibri"/>
              </a:rPr>
              <a:t>(multiple slides – have actual box in hand, but also try to make these slides stand alone, with text and photographs)</a:t>
            </a:r>
            <a:endParaRPr/>
          </a:p>
        </p:txBody>
      </p:sp>
      <p:sp>
        <p:nvSpPr>
          <p:cNvPr id="103" name="Google Shape;103;p4"/>
          <p:cNvSpPr txBox="1"/>
          <p:nvPr>
            <p:ph idx="1" type="subTitle"/>
          </p:nvPr>
        </p:nvSpPr>
        <p:spPr>
          <a:xfrm>
            <a:off x="381000" y="2362200"/>
            <a:ext cx="8382000" cy="4495800"/>
          </a:xfrm>
          <a:prstGeom prst="rect">
            <a:avLst/>
          </a:prstGeom>
          <a:noFill/>
          <a:ln>
            <a:noFill/>
          </a:ln>
        </p:spPr>
        <p:txBody>
          <a:bodyPr anchorCtr="0" anchor="t" bIns="45700" lIns="91425" spcFirstLastPara="1" rIns="91425" wrap="square" tIns="45700">
            <a:normAutofit/>
          </a:bodyPr>
          <a:lstStyle/>
          <a:p>
            <a:pPr indent="-190500" lvl="0" marL="0" rtl="0" algn="l">
              <a:lnSpc>
                <a:spcPct val="100000"/>
              </a:lnSpc>
              <a:spcBef>
                <a:spcPts val="0"/>
              </a:spcBef>
              <a:spcAft>
                <a:spcPts val="0"/>
              </a:spcAft>
              <a:buClr>
                <a:srgbClr val="898989"/>
              </a:buClr>
              <a:buSzPts val="3000"/>
              <a:buFont typeface="Arial"/>
              <a:buChar char="•"/>
            </a:pPr>
            <a:r>
              <a:rPr b="0" i="0" lang="en-US" sz="3000" u="none">
                <a:solidFill>
                  <a:srgbClr val="898989"/>
                </a:solidFill>
                <a:latin typeface="Calibri"/>
                <a:ea typeface="Calibri"/>
                <a:cs typeface="Calibri"/>
                <a:sym typeface="Calibri"/>
              </a:rPr>
              <a:t>  Functional connections and physical layout of the items in the payload</a:t>
            </a:r>
            <a:endParaRPr/>
          </a:p>
          <a:p>
            <a:pPr indent="-190500" lvl="0" marL="0" rtl="0" algn="l">
              <a:lnSpc>
                <a:spcPct val="100000"/>
              </a:lnSpc>
              <a:spcBef>
                <a:spcPts val="600"/>
              </a:spcBef>
              <a:spcAft>
                <a:spcPts val="0"/>
              </a:spcAft>
              <a:buClr>
                <a:srgbClr val="898989"/>
              </a:buClr>
              <a:buSzPts val="3000"/>
              <a:buFont typeface="Arial"/>
              <a:buChar char="•"/>
            </a:pPr>
            <a:r>
              <a:rPr b="0" i="0" lang="en-US" sz="3000" u="none">
                <a:solidFill>
                  <a:srgbClr val="898989"/>
                </a:solidFill>
                <a:latin typeface="Calibri"/>
                <a:ea typeface="Calibri"/>
                <a:cs typeface="Calibri"/>
                <a:sym typeface="Calibri"/>
              </a:rPr>
              <a:t>  Photos of actual box construction</a:t>
            </a:r>
            <a:endParaRPr/>
          </a:p>
          <a:p>
            <a:pPr indent="-190500" lvl="0" marL="0" rtl="0" algn="l">
              <a:lnSpc>
                <a:spcPct val="100000"/>
              </a:lnSpc>
              <a:spcBef>
                <a:spcPts val="600"/>
              </a:spcBef>
              <a:spcAft>
                <a:spcPts val="0"/>
              </a:spcAft>
              <a:buClr>
                <a:srgbClr val="898989"/>
              </a:buClr>
              <a:buSzPts val="3000"/>
              <a:buFont typeface="Arial"/>
              <a:buChar char="•"/>
            </a:pPr>
            <a:r>
              <a:rPr b="0" i="0" lang="en-US" sz="3000" u="none">
                <a:solidFill>
                  <a:srgbClr val="898989"/>
                </a:solidFill>
                <a:latin typeface="Calibri"/>
                <a:ea typeface="Calibri"/>
                <a:cs typeface="Calibri"/>
                <a:sym typeface="Calibri"/>
              </a:rPr>
              <a:t>  Programming (not the actual code, just what it does like “record temperature, pressure, and relative humidity once every xx minutes” ) for BSE computer, HOBO, and still camera (if you are using one)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ctrTitle"/>
          </p:nvPr>
        </p:nvSpPr>
        <p:spPr>
          <a:xfrm>
            <a:off x="685800" y="228600"/>
            <a:ext cx="77724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Results of Testing </a:t>
            </a:r>
            <a:r>
              <a:rPr b="0" i="0" lang="en-US" sz="3200" u="none">
                <a:solidFill>
                  <a:schemeClr val="dk1"/>
                </a:solidFill>
                <a:latin typeface="Calibri"/>
                <a:ea typeface="Calibri"/>
                <a:cs typeface="Calibri"/>
                <a:sym typeface="Calibri"/>
              </a:rPr>
              <a:t>(as evidence that your payload is ready for flight)</a:t>
            </a:r>
            <a:endParaRPr/>
          </a:p>
        </p:txBody>
      </p:sp>
      <p:sp>
        <p:nvSpPr>
          <p:cNvPr id="109" name="Google Shape;109;p5"/>
          <p:cNvSpPr txBox="1"/>
          <p:nvPr>
            <p:ph idx="1" type="subTitle"/>
          </p:nvPr>
        </p:nvSpPr>
        <p:spPr>
          <a:xfrm>
            <a:off x="381000" y="1676400"/>
            <a:ext cx="8153400" cy="4114800"/>
          </a:xfrm>
          <a:prstGeom prst="rect">
            <a:avLst/>
          </a:prstGeom>
          <a:noFill/>
          <a:ln>
            <a:noFill/>
          </a:ln>
        </p:spPr>
        <p:txBody>
          <a:bodyPr anchorCtr="0" anchor="t" bIns="45700" lIns="91425" spcFirstLastPara="1" rIns="91425" wrap="square" tIns="45700">
            <a:normAutofit/>
          </a:bodyPr>
          <a:lstStyle/>
          <a:p>
            <a:pPr indent="-190500" lvl="0" marL="0" rtl="0" algn="l">
              <a:lnSpc>
                <a:spcPct val="100000"/>
              </a:lnSpc>
              <a:spcBef>
                <a:spcPts val="0"/>
              </a:spcBef>
              <a:spcAft>
                <a:spcPts val="0"/>
              </a:spcAft>
              <a:buClr>
                <a:srgbClr val="898989"/>
              </a:buClr>
              <a:buSzPts val="3000"/>
              <a:buFont typeface="Arial"/>
              <a:buChar char="•"/>
            </a:pPr>
            <a:r>
              <a:rPr b="0" i="0" lang="en-US" sz="3000" u="none">
                <a:solidFill>
                  <a:srgbClr val="898989"/>
                </a:solidFill>
                <a:latin typeface="Calibri"/>
                <a:ea typeface="Calibri"/>
                <a:cs typeface="Calibri"/>
                <a:sym typeface="Calibri"/>
              </a:rPr>
              <a:t>  What did you run?  What were the results?  What changes, if any, were made to the payload based on the testing? What concerns did you have, if any, about your payload’s flight readiness?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ctrTitle"/>
          </p:nvPr>
        </p:nvSpPr>
        <p:spPr>
          <a:xfrm>
            <a:off x="685800" y="228600"/>
            <a:ext cx="7772400" cy="1981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Expected Science Results</a:t>
            </a:r>
            <a:br>
              <a:rPr b="0" i="0" lang="en-US" sz="3200" u="none">
                <a:solidFill>
                  <a:schemeClr val="dk1"/>
                </a:solidFill>
                <a:latin typeface="Calibri"/>
                <a:ea typeface="Calibri"/>
                <a:cs typeface="Calibri"/>
                <a:sym typeface="Calibri"/>
              </a:rPr>
            </a:br>
            <a:endParaRPr/>
          </a:p>
        </p:txBody>
      </p:sp>
      <p:sp>
        <p:nvSpPr>
          <p:cNvPr id="115" name="Google Shape;115;p6"/>
          <p:cNvSpPr txBox="1"/>
          <p:nvPr>
            <p:ph idx="1" type="subTitle"/>
          </p:nvPr>
        </p:nvSpPr>
        <p:spPr>
          <a:xfrm>
            <a:off x="381000" y="2286000"/>
            <a:ext cx="83820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898989"/>
              </a:buClr>
              <a:buSzPts val="3000"/>
              <a:buNone/>
            </a:pPr>
            <a:r>
              <a:rPr b="0" i="0" lang="en-US" sz="3000" u="none">
                <a:solidFill>
                  <a:srgbClr val="898989"/>
                </a:solidFill>
                <a:latin typeface="Calibri"/>
                <a:ea typeface="Calibri"/>
                <a:cs typeface="Calibri"/>
                <a:sym typeface="Calibri"/>
              </a:rPr>
              <a:t>Talk about the results you expect.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ctrTitle"/>
          </p:nvPr>
        </p:nvSpPr>
        <p:spPr>
          <a:xfrm>
            <a:off x="685800" y="228600"/>
            <a:ext cx="7772400" cy="1981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lang="en-US" sz="4000"/>
              <a:t>Final</a:t>
            </a:r>
            <a:r>
              <a:rPr b="0" i="0" lang="en-US" sz="4000" u="none">
                <a:solidFill>
                  <a:schemeClr val="dk1"/>
                </a:solidFill>
                <a:latin typeface="Calibri"/>
                <a:ea typeface="Calibri"/>
                <a:cs typeface="Calibri"/>
                <a:sym typeface="Calibri"/>
              </a:rPr>
              <a:t> Results</a:t>
            </a:r>
            <a:br>
              <a:rPr b="0" i="0" lang="en-US" sz="3200" u="none">
                <a:solidFill>
                  <a:schemeClr val="dk1"/>
                </a:solidFill>
                <a:latin typeface="Calibri"/>
                <a:ea typeface="Calibri"/>
                <a:cs typeface="Calibri"/>
                <a:sym typeface="Calibri"/>
              </a:rPr>
            </a:br>
            <a:endParaRPr/>
          </a:p>
        </p:txBody>
      </p:sp>
      <p:sp>
        <p:nvSpPr>
          <p:cNvPr id="121" name="Google Shape;121;p7"/>
          <p:cNvSpPr txBox="1"/>
          <p:nvPr>
            <p:ph idx="1" type="subTitle"/>
          </p:nvPr>
        </p:nvSpPr>
        <p:spPr>
          <a:xfrm>
            <a:off x="381000" y="2286000"/>
            <a:ext cx="83820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898989"/>
              </a:buClr>
              <a:buSzPts val="3000"/>
              <a:buNone/>
            </a:pPr>
            <a:r>
              <a:rPr b="0" i="0" lang="en-US" sz="3000" u="none">
                <a:solidFill>
                  <a:srgbClr val="898989"/>
                </a:solidFill>
                <a:latin typeface="Calibri"/>
                <a:ea typeface="Calibri"/>
                <a:cs typeface="Calibri"/>
                <a:sym typeface="Calibri"/>
              </a:rPr>
              <a:t>Show plots of your </a:t>
            </a:r>
            <a:r>
              <a:rPr lang="en-US" sz="3000">
                <a:solidFill>
                  <a:srgbClr val="898989"/>
                </a:solidFill>
              </a:rPr>
              <a:t>calibration</a:t>
            </a:r>
            <a:r>
              <a:rPr b="0" i="0" lang="en-US" sz="3000" u="none">
                <a:solidFill>
                  <a:srgbClr val="898989"/>
                </a:solidFill>
                <a:latin typeface="Calibri"/>
                <a:ea typeface="Calibri"/>
                <a:cs typeface="Calibri"/>
                <a:sym typeface="Calibri"/>
              </a:rPr>
              <a:t> data (if available)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ef546a8f13_0_0"/>
          <p:cNvSpPr txBox="1"/>
          <p:nvPr>
            <p:ph type="ctrTitle"/>
          </p:nvPr>
        </p:nvSpPr>
        <p:spPr>
          <a:xfrm>
            <a:off x="685800" y="228600"/>
            <a:ext cx="7772400" cy="1981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lang="en-US" sz="4000"/>
              <a:t>Anything fun!</a:t>
            </a:r>
            <a:br>
              <a:rPr b="0" i="0" lang="en-US" sz="3200" u="none">
                <a:solidFill>
                  <a:schemeClr val="dk1"/>
                </a:solidFill>
                <a:latin typeface="Calibri"/>
                <a:ea typeface="Calibri"/>
                <a:cs typeface="Calibri"/>
                <a:sym typeface="Calibri"/>
              </a:rPr>
            </a:br>
            <a:endParaRPr/>
          </a:p>
        </p:txBody>
      </p:sp>
      <p:sp>
        <p:nvSpPr>
          <p:cNvPr id="127" name="Google Shape;127;g2ef546a8f13_0_0"/>
          <p:cNvSpPr txBox="1"/>
          <p:nvPr>
            <p:ph idx="1" type="subTitle"/>
          </p:nvPr>
        </p:nvSpPr>
        <p:spPr>
          <a:xfrm>
            <a:off x="381000" y="2286000"/>
            <a:ext cx="83820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898989"/>
              </a:buClr>
              <a:buSzPts val="3000"/>
              <a:buNone/>
            </a:pPr>
            <a:r>
              <a:rPr lang="en-US" sz="3000">
                <a:solidFill>
                  <a:srgbClr val="898989"/>
                </a:solidFill>
              </a:rPr>
              <a:t>Favorite pictures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ctrTitle"/>
          </p:nvPr>
        </p:nvSpPr>
        <p:spPr>
          <a:xfrm>
            <a:off x="685800" y="228600"/>
            <a:ext cx="7772400" cy="1981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Summary/Conclusion</a:t>
            </a:r>
            <a:endParaRPr/>
          </a:p>
        </p:txBody>
      </p:sp>
      <p:sp>
        <p:nvSpPr>
          <p:cNvPr id="133" name="Google Shape;133;p8"/>
          <p:cNvSpPr txBox="1"/>
          <p:nvPr>
            <p:ph idx="1" type="subTitle"/>
          </p:nvPr>
        </p:nvSpPr>
        <p:spPr>
          <a:xfrm>
            <a:off x="381000" y="2286000"/>
            <a:ext cx="83820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898989"/>
              </a:buClr>
              <a:buSzPts val="3000"/>
              <a:buNone/>
            </a:pPr>
            <a:r>
              <a:rPr b="0" i="0" lang="en-US" sz="3000" u="none">
                <a:solidFill>
                  <a:srgbClr val="898989"/>
                </a:solidFill>
                <a:latin typeface="Calibri"/>
                <a:ea typeface="Calibri"/>
                <a:cs typeface="Calibri"/>
                <a:sym typeface="Calibri"/>
              </a:rPr>
              <a:t>Briefly summarize what you already said.</a:t>
            </a:r>
            <a:endParaRPr/>
          </a:p>
          <a:p>
            <a:pPr indent="0" lvl="0" marL="0" rtl="0" algn="l">
              <a:lnSpc>
                <a:spcPct val="100000"/>
              </a:lnSpc>
              <a:spcBef>
                <a:spcPts val="600"/>
              </a:spcBef>
              <a:spcAft>
                <a:spcPts val="0"/>
              </a:spcAft>
              <a:buClr>
                <a:srgbClr val="888888"/>
              </a:buClr>
              <a:buSzPts val="3000"/>
              <a:buNone/>
            </a:pPr>
            <a:r>
              <a:t/>
            </a:r>
            <a:endParaRPr b="0" i="0" sz="3000" u="none">
              <a:solidFill>
                <a:srgbClr val="898989"/>
              </a:solidFill>
              <a:latin typeface="Calibri"/>
              <a:ea typeface="Calibri"/>
              <a:cs typeface="Calibri"/>
              <a:sym typeface="Calibri"/>
            </a:endParaRPr>
          </a:p>
          <a:p>
            <a:pPr indent="0" lvl="0" marL="0" rtl="0" algn="l">
              <a:lnSpc>
                <a:spcPct val="100000"/>
              </a:lnSpc>
              <a:spcBef>
                <a:spcPts val="600"/>
              </a:spcBef>
              <a:spcAft>
                <a:spcPts val="0"/>
              </a:spcAft>
              <a:buClr>
                <a:srgbClr val="898989"/>
              </a:buClr>
              <a:buSzPts val="3000"/>
              <a:buNone/>
            </a:pPr>
            <a:r>
              <a:rPr b="0" i="0" lang="en-US" sz="3000" u="none">
                <a:solidFill>
                  <a:srgbClr val="898989"/>
                </a:solidFill>
                <a:latin typeface="Calibri"/>
                <a:ea typeface="Calibri"/>
                <a:cs typeface="Calibri"/>
                <a:sym typeface="Calibri"/>
              </a:rPr>
              <a:t>Take a look towards the future.  What would you do differently next time?  Are there any lessons learned?  Does this inspire you to build another scientific or engineering payload?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